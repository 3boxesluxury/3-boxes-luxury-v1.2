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investor-assets/slides/cover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C09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216450" y="526256"/>
            <a:ext cx="711101" cy="711101"/>
          </a:xfrm>
          <a:prstGeom prst="roundRect">
            <a:avLst>
              <a:gd name="adj" fmla="val 128589"/>
            </a:avLst>
          </a:prstGeom>
          <a:noFill/>
          <a:ln w="19050">
            <a:solidFill>
              <a:srgbClr val="C09E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1" descr="/home/z/my-project/investor-assets/slides/icon-crow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4150" y="703957"/>
            <a:ext cx="355550" cy="3555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4320" y="1592907"/>
            <a:ext cx="8595211" cy="63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 Boxes Luxury</a:t>
            </a:r>
            <a:endParaRPr lang="en-US" sz="4000" dirty="0"/>
          </a:p>
        </p:txBody>
      </p:sp>
      <p:sp>
        <p:nvSpPr>
          <p:cNvPr id="7" name="Text 3"/>
          <p:cNvSpPr/>
          <p:nvPr/>
        </p:nvSpPr>
        <p:spPr>
          <a:xfrm>
            <a:off x="4191000" y="2481560"/>
            <a:ext cx="762000" cy="38100"/>
          </a:xfrm>
          <a:prstGeom prst="rect">
            <a:avLst/>
          </a:prstGeom>
          <a:solidFill>
            <a:srgbClr val="C09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2581439" y="2722811"/>
            <a:ext cx="3981123" cy="345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Aft>
                <a:spcPts val="800"/>
              </a:spcAft>
              <a:buNone/>
            </a:pPr>
            <a:r>
              <a:rPr lang="en-US" sz="1800" i="1" dirty="0">
                <a:solidFill>
                  <a:srgbClr val="C09E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Curated Luxury Gifting, Powered by AI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2629733" y="3144292"/>
            <a:ext cx="3884533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3600"/>
              </a:spcAft>
              <a:buNone/>
            </a:pPr>
            <a:r>
              <a:rPr lang="en-US" sz="1400" dirty="0">
                <a:solidFill>
                  <a:srgbClr val="FFFFFF">
                    <a:alpha val="55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India's First AI-Powered Luxury Gifting Platform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3395960" y="3868192"/>
            <a:ext cx="2351931" cy="406152"/>
          </a:xfrm>
          <a:prstGeom prst="roundRect">
            <a:avLst>
              <a:gd name="adj" fmla="val 18761"/>
            </a:avLst>
          </a:prstGeom>
          <a:noFill/>
          <a:ln w="19050">
            <a:solidFill>
              <a:srgbClr val="C09E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3770561" y="3988743"/>
            <a:ext cx="2131631" cy="178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spc="100" kern="0" dirty="0">
                <a:solidFill>
                  <a:srgbClr val="C09E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SEED ROUND 2025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058841" y="4749850"/>
            <a:ext cx="1364806" cy="150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FFFFFF">
                    <a:alpha val="40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3boxesluxury.com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C09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30101"/>
            <a:ext cx="2277678" cy="427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98837" y="521791"/>
            <a:ext cx="5935563" cy="1265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878681"/>
            <a:ext cx="85344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>
                    <a:alpha val="55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India's luxury gifting is fragmented, impersonal, and offline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600" y="1392436"/>
            <a:ext cx="7924800" cy="768102"/>
          </a:xfrm>
          <a:prstGeom prst="roundRect">
            <a:avLst>
              <a:gd name="adj" fmla="val 1322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96826" y="152891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09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14251" y="1611362"/>
            <a:ext cx="96325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1E12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28576" y="1547961"/>
            <a:ext cx="1953741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Fragmented Market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28576" y="1805136"/>
            <a:ext cx="5057358" cy="195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No single platform aggregates luxury — buyers visit 5-7 sites per gift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9600" y="2262039"/>
            <a:ext cx="7924800" cy="768102"/>
          </a:xfrm>
          <a:prstGeom prst="roundRect">
            <a:avLst>
              <a:gd name="adj" fmla="val 1322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96826" y="2398514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09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14251" y="2480965"/>
            <a:ext cx="96325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1E12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28576" y="2417564"/>
            <a:ext cx="2480593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No AI-Powered Discovery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28576" y="2674739"/>
            <a:ext cx="4766117" cy="195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Zero platforms offer virtual try-on or smart gift recommendations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9600" y="3131641"/>
            <a:ext cx="7924800" cy="768102"/>
          </a:xfrm>
          <a:prstGeom prst="roundRect">
            <a:avLst>
              <a:gd name="adj" fmla="val 1322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96826" y="3268117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09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14251" y="3350568"/>
            <a:ext cx="96325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1E12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28576" y="3287167"/>
            <a:ext cx="184222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Impersonal Gifting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28576" y="3544342"/>
            <a:ext cx="4588163" cy="195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No customization — gifting feels transactional, not memorable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09600" y="4001244"/>
            <a:ext cx="7924800" cy="768102"/>
          </a:xfrm>
          <a:prstGeom prst="roundRect">
            <a:avLst>
              <a:gd name="adj" fmla="val 1322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6826" y="413772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09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14251" y="4220170"/>
            <a:ext cx="96325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1E12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28576" y="4156770"/>
            <a:ext cx="2210318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Corporate Gifting Gap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28576" y="4413945"/>
            <a:ext cx="4109472" cy="195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No B2B solution — $12B corporate market underserved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1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C09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18739" y="1065163"/>
            <a:ext cx="290637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spc="200" kern="0" dirty="0">
                <a:solidFill>
                  <a:srgbClr val="C09E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MARKET OPPORTUNITY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625715" y="1369963"/>
            <a:ext cx="3892570" cy="1097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000"/>
              </a:lnSpc>
              <a:spcBef>
                <a:spcPts val="1200"/>
              </a:spcBef>
              <a:buNone/>
            </a:pPr>
            <a:r>
              <a:rPr lang="en-US" sz="8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$40B+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2964927" y="2538413"/>
            <a:ext cx="321414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Bef>
                <a:spcPts val="1200"/>
              </a:spcBef>
              <a:buNone/>
            </a:pPr>
            <a:r>
              <a:rPr lang="en-US" sz="1800" i="1" dirty="0">
                <a:solidFill>
                  <a:srgbClr val="C09E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Indian Luxury Gifting Market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0632" y="3236863"/>
            <a:ext cx="1376214" cy="892076"/>
          </a:xfrm>
          <a:prstGeom prst="roundRect">
            <a:avLst>
              <a:gd name="adj" fmla="val 11389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64185" y="3398788"/>
            <a:ext cx="1189107" cy="38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C09E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25%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93913" y="3805089"/>
            <a:ext cx="1129652" cy="174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>
                    <a:alpha val="50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CAGR Growth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02396" y="3236863"/>
            <a:ext cx="1930747" cy="892076"/>
          </a:xfrm>
          <a:prstGeom prst="roundRect">
            <a:avLst>
              <a:gd name="adj" fmla="val 11389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485043" y="3398788"/>
            <a:ext cx="1965454" cy="38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C09E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500M+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34179" y="3805089"/>
            <a:ext cx="1867181" cy="174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>
                    <a:alpha val="50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Middle Class Consumers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88694" y="3236863"/>
            <a:ext cx="1523256" cy="892076"/>
          </a:xfrm>
          <a:prstGeom prst="roundRect">
            <a:avLst>
              <a:gd name="adj" fmla="val 11389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52839" y="3398788"/>
            <a:ext cx="1394966" cy="38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C09E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$12B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887713" y="3805089"/>
            <a:ext cx="1325218" cy="174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>
                    <a:alpha val="50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Corporate Gifting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67500" y="3236863"/>
            <a:ext cx="1705719" cy="892076"/>
          </a:xfrm>
          <a:prstGeom prst="roundRect">
            <a:avLst>
              <a:gd name="adj" fmla="val 11389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695152" y="3398788"/>
            <a:ext cx="1650415" cy="38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C09E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75%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736413" y="3805089"/>
            <a:ext cx="1567894" cy="174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>
                    <a:alpha val="50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Online Shift Pending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479750" cy="5143500"/>
          </a:xfrm>
          <a:prstGeom prst="rect">
            <a:avLst/>
          </a:prstGeom>
          <a:solidFill>
            <a:srgbClr val="1E12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1324868"/>
            <a:ext cx="3547308" cy="150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spc="200" kern="0" dirty="0">
                <a:solidFill>
                  <a:srgbClr val="C09E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06301" y="1667768"/>
            <a:ext cx="280050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Bef>
                <a:spcPts val="1600"/>
              </a:spcBef>
              <a:buNone/>
            </a:pPr>
            <a:r>
              <a:rPr lang="en-US" sz="3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 Boxes</a:t>
            </a:r>
            <a:endParaRPr lang="en-US" sz="3000" dirty="0"/>
          </a:p>
          <a:p>
            <a:pPr algn="l" indent="0" marL="0">
              <a:lnSpc>
                <a:spcPts val="3600"/>
              </a:lnSpc>
              <a:spcBef>
                <a:spcPts val="1600"/>
              </a:spcBef>
              <a:buNone/>
            </a:pPr>
            <a:r>
              <a:rPr lang="en-US" sz="3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Luxury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06301" y="2785318"/>
            <a:ext cx="406301" cy="38100"/>
          </a:xfrm>
          <a:prstGeom prst="rect">
            <a:avLst/>
          </a:prstGeom>
          <a:solidFill>
            <a:srgbClr val="C09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6301" y="3026569"/>
            <a:ext cx="2800506" cy="855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One platform for all luxury gifting needs — aggregated, AI-powered, and gift-centric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36950" y="943570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C09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73426" y="1038820"/>
            <a:ext cx="113987" cy="178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1E12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44901" y="962620"/>
            <a:ext cx="2699061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3C241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Multi-Platform Aggregation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44901" y="1219795"/>
            <a:ext cx="3813483" cy="195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Best luxury products from 8+ platforms in one place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36950" y="1616422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C09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073426" y="1711672"/>
            <a:ext cx="113987" cy="178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1E12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44901" y="1635472"/>
            <a:ext cx="2286887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3C241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AI-Powered Experience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44901" y="1892647"/>
            <a:ext cx="4318665" cy="462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Virtual Try-On + Gift Assistant — first in India to combine AI with luxury gifting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36950" y="25367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C09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073426" y="2632025"/>
            <a:ext cx="113987" cy="178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1E12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44901" y="2555825"/>
            <a:ext cx="289645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3C241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Gift Builder + Own Collection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44901" y="2813000"/>
            <a:ext cx="3731716" cy="462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Custom 3-box gift hampers + curated in-house luxury collection with 30-50% margins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36950" y="3457129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C09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073426" y="3552379"/>
            <a:ext cx="113987" cy="178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1E12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444901" y="3476179"/>
            <a:ext cx="2210318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3C241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B2B Corporate Gifting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444901" y="3733354"/>
            <a:ext cx="3898143" cy="462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Enterprise-grade bulk gifting platform for companies — tapping $12B corporate market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D1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2991093" cy="39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Product Features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061692" y="481310"/>
            <a:ext cx="5472708" cy="1265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873621"/>
            <a:ext cx="2523083" cy="3042047"/>
          </a:xfrm>
          <a:prstGeom prst="roundRect">
            <a:avLst>
              <a:gd name="adj" fmla="val 503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22275" y="1111746"/>
            <a:ext cx="406301" cy="38100"/>
          </a:xfrm>
          <a:prstGeom prst="rect">
            <a:avLst/>
          </a:prstGeom>
          <a:solidFill>
            <a:srgbClr val="C09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/home/z/my-project/investor-assets/slides/icon-eye-l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275" y="1302246"/>
            <a:ext cx="355550" cy="3555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275" y="1784747"/>
            <a:ext cx="2475324" cy="28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AI Virtual Try-On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275" y="2150269"/>
            <a:ext cx="2202619" cy="105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Upload a selfie and see how jewelry, watches, and fashion look on you — powered by generative AI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310384" y="873621"/>
            <a:ext cx="2523232" cy="3042047"/>
          </a:xfrm>
          <a:prstGeom prst="roundRect">
            <a:avLst>
              <a:gd name="adj" fmla="val 5033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523059" y="1111746"/>
            <a:ext cx="406301" cy="38100"/>
          </a:xfrm>
          <a:prstGeom prst="rect">
            <a:avLst/>
          </a:prstGeom>
          <a:solidFill>
            <a:srgbClr val="C09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1" descr="/home/z/my-project/investor-assets/slides/icon-magic-l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059" y="1302246"/>
            <a:ext cx="355550" cy="3555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3059" y="1784747"/>
            <a:ext cx="2475500" cy="28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AI Gift Assistant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523059" y="2150269"/>
            <a:ext cx="2202775" cy="105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Smart gift recommendations based on occasion, recipient, relationship, and budget — never give a bad gift again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011317" y="873621"/>
            <a:ext cx="2523083" cy="3042047"/>
          </a:xfrm>
          <a:prstGeom prst="roundRect">
            <a:avLst>
              <a:gd name="adj" fmla="val 503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6223992" y="1111746"/>
            <a:ext cx="406301" cy="38100"/>
          </a:xfrm>
          <a:prstGeom prst="rect">
            <a:avLst/>
          </a:prstGeom>
          <a:solidFill>
            <a:srgbClr val="C09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/home/z/my-project/investor-assets/slides/icon-box-l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992" y="1302246"/>
            <a:ext cx="355550" cy="3555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23992" y="1784747"/>
            <a:ext cx="2601188" cy="28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Gift Builder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223992" y="2150269"/>
            <a:ext cx="2202619" cy="105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Create custom 3-box gift hampers — mix and match products for a personalized, premium unboxing experience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09600" y="4220468"/>
            <a:ext cx="3873550" cy="669131"/>
          </a:xfrm>
          <a:prstGeom prst="roundRect">
            <a:avLst>
              <a:gd name="adj" fmla="val 15184"/>
            </a:avLst>
          </a:prstGeom>
          <a:solidFill>
            <a:srgbClr val="C09E30">
              <a:alpha val="8000"/>
            </a:srgbClr>
          </a:solidFill>
          <a:ln w="9525">
            <a:solidFill>
              <a:srgbClr val="C09E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0" name="Image 3" descr="/home/z/my-project/investor-assets/slides/icon-robot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826" y="4428083"/>
            <a:ext cx="253901" cy="25390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77677" y="4356943"/>
            <a:ext cx="3274159" cy="427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C09E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Portfolio System v1.2 — Customer selfies become social proof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660850" y="4220468"/>
            <a:ext cx="3873550" cy="669131"/>
          </a:xfrm>
          <a:prstGeom prst="roundRect">
            <a:avLst>
              <a:gd name="adj" fmla="val 15184"/>
            </a:avLst>
          </a:prstGeom>
          <a:solidFill>
            <a:srgbClr val="C09E30">
              <a:alpha val="8000"/>
            </a:srgbClr>
          </a:solidFill>
          <a:ln w="9525">
            <a:solidFill>
              <a:srgbClr val="C09E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3" name="Image 4" descr="/home/z/my-project/investor-assets/slides/icon-handshake-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8076" y="4428083"/>
            <a:ext cx="253901" cy="25390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228927" y="4356943"/>
            <a:ext cx="3274159" cy="427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C09E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Corporate Gifting — B2B bulk solutions for enterprises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2D1B1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55525"/>
            <a:ext cx="2209732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How It Works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66800" y="1870323"/>
            <a:ext cx="6096000" cy="25301"/>
          </a:xfrm>
          <a:prstGeom prst="rect">
            <a:avLst/>
          </a:prstGeom>
          <a:solidFill>
            <a:srgbClr val="E9E2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320850" y="1997125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C09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479500" y="2111276"/>
            <a:ext cx="122614" cy="19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E12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60286" y="2530376"/>
            <a:ext cx="727278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C241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Browse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3880" y="2812256"/>
            <a:ext cx="1920240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E8A7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8+ platforms in one luxury marketplace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49650" y="1997125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C09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08300" y="2111276"/>
            <a:ext cx="122614" cy="19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E12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92353" y="2530376"/>
            <a:ext cx="720894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C241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Try 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392680" y="2812256"/>
            <a:ext cx="1920240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E8A7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AI Virtual Try-On before you buy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78450" y="1997125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C09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137100" y="2111276"/>
            <a:ext cx="122614" cy="19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E12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06963" y="2530376"/>
            <a:ext cx="949125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C241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Build Gift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21480" y="2812256"/>
            <a:ext cx="1920240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E8A7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Custom 3-box hampers or AI picks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07250" y="1997125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C09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965900" y="2111276"/>
            <a:ext cx="122614" cy="19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E12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51136" y="2530376"/>
            <a:ext cx="718378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C241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Deliver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050280" y="2812256"/>
            <a:ext cx="1920240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E8A7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Premium delivery and luxury unboxing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9600" y="3431977"/>
            <a:ext cx="7924800" cy="552301"/>
          </a:xfrm>
          <a:prstGeom prst="roundRect">
            <a:avLst>
              <a:gd name="adj" fmla="val 18396"/>
            </a:avLst>
          </a:prstGeom>
          <a:solidFill>
            <a:srgbClr val="E9E2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33412" y="3431977"/>
            <a:ext cx="0" cy="552301"/>
          </a:xfrm>
          <a:prstGeom prst="line">
            <a:avLst/>
          </a:prstGeom>
          <a:noFill/>
          <a:ln w="47625">
            <a:solidFill>
              <a:srgbClr val="C09E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0375" y="3584377"/>
            <a:ext cx="8217962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3C241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 B2B: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3C241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Corporate clients get dedicated accounts, bulk pricing, and branded packaging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2D1B1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55525"/>
            <a:ext cx="3659870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Categories and Products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504057"/>
            <a:ext cx="1905000" cy="1042392"/>
          </a:xfrm>
          <a:prstGeom prst="roundRect">
            <a:avLst>
              <a:gd name="adj" fmla="val 12183"/>
            </a:avLst>
          </a:prstGeom>
          <a:solidFill>
            <a:srgbClr val="F5F2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09600" y="1523107"/>
            <a:ext cx="1905000" cy="0"/>
          </a:xfrm>
          <a:prstGeom prst="line">
            <a:avLst/>
          </a:prstGeom>
          <a:noFill/>
          <a:ln w="38100">
            <a:solidFill>
              <a:srgbClr val="C09E30"/>
            </a:solidFill>
            <a:prstDash val="solid"/>
          </a:ln>
        </p:spPr>
      </p:sp>
      <p:pic>
        <p:nvPicPr>
          <p:cNvPr id="6" name="Image 0" descr="/home/z/my-project/investor-assets/slides/icon-he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350" y="1669107"/>
            <a:ext cx="279350" cy="2793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9005" y="1999208"/>
            <a:ext cx="706189" cy="230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C241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Couple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6506" y="2237929"/>
            <a:ext cx="2031188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9E8A7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Romantic gifts, couple jewelry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616101" y="1504057"/>
            <a:ext cx="1905000" cy="1042392"/>
          </a:xfrm>
          <a:prstGeom prst="roundRect">
            <a:avLst>
              <a:gd name="adj" fmla="val 12183"/>
            </a:avLst>
          </a:prstGeom>
          <a:solidFill>
            <a:srgbClr val="F5F2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2616101" y="1523107"/>
            <a:ext cx="1905000" cy="0"/>
          </a:xfrm>
          <a:prstGeom prst="line">
            <a:avLst/>
          </a:prstGeom>
          <a:noFill/>
          <a:ln w="38100">
            <a:solidFill>
              <a:srgbClr val="C09E30"/>
            </a:solidFill>
            <a:prstDash val="solid"/>
          </a:ln>
        </p:spPr>
      </p:sp>
      <p:pic>
        <p:nvPicPr>
          <p:cNvPr id="11" name="Image 1" descr="/home/z/my-project/investor-assets/slides/icon-userti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851" y="1669107"/>
            <a:ext cx="279350" cy="2793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43997" y="1999208"/>
            <a:ext cx="449059" cy="230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C241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645557" y="2237929"/>
            <a:ext cx="1846088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9E8A7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Watches, leather, fragrances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622602" y="1504057"/>
            <a:ext cx="1905000" cy="1042392"/>
          </a:xfrm>
          <a:prstGeom prst="roundRect">
            <a:avLst>
              <a:gd name="adj" fmla="val 12183"/>
            </a:avLst>
          </a:prstGeom>
          <a:solidFill>
            <a:srgbClr val="F5F2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1"/>
          <p:cNvSpPr/>
          <p:nvPr/>
        </p:nvSpPr>
        <p:spPr>
          <a:xfrm>
            <a:off x="4622602" y="1523107"/>
            <a:ext cx="1905000" cy="0"/>
          </a:xfrm>
          <a:prstGeom prst="line">
            <a:avLst/>
          </a:prstGeom>
          <a:noFill/>
          <a:ln w="38100">
            <a:solidFill>
              <a:srgbClr val="C09E30"/>
            </a:solidFill>
            <a:prstDash val="solid"/>
          </a:ln>
        </p:spPr>
      </p:sp>
      <p:pic>
        <p:nvPicPr>
          <p:cNvPr id="16" name="Image 2" descr="/home/z/my-project/investor-assets/slides/icon-ge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5352" y="1669107"/>
            <a:ext cx="279350" cy="2793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96468" y="1999208"/>
            <a:ext cx="757267" cy="230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C241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Women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798185" y="2237929"/>
            <a:ext cx="1553685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9E8A7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Jewelry, sarees, fashion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629102" y="1504057"/>
            <a:ext cx="1905000" cy="1042392"/>
          </a:xfrm>
          <a:prstGeom prst="roundRect">
            <a:avLst>
              <a:gd name="adj" fmla="val 12183"/>
            </a:avLst>
          </a:prstGeom>
          <a:solidFill>
            <a:srgbClr val="F5F2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5"/>
          <p:cNvSpPr/>
          <p:nvPr/>
        </p:nvSpPr>
        <p:spPr>
          <a:xfrm>
            <a:off x="6629102" y="1523107"/>
            <a:ext cx="1905000" cy="0"/>
          </a:xfrm>
          <a:prstGeom prst="line">
            <a:avLst/>
          </a:prstGeom>
          <a:noFill/>
          <a:ln w="38100">
            <a:solidFill>
              <a:srgbClr val="C09E30"/>
            </a:solidFill>
            <a:prstDash val="solid"/>
          </a:ln>
        </p:spPr>
      </p:sp>
      <p:pic>
        <p:nvPicPr>
          <p:cNvPr id="21" name="Image 3" descr="/home/z/my-project/investor-assets/slides/icon-chi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1853" y="1669107"/>
            <a:ext cx="279350" cy="2793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50398" y="1999208"/>
            <a:ext cx="462409" cy="230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C241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Kids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796607" y="2237929"/>
            <a:ext cx="1569842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9E8A7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Fashion, toys, kids gifts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09600" y="2647950"/>
            <a:ext cx="1905000" cy="1042392"/>
          </a:xfrm>
          <a:prstGeom prst="roundRect">
            <a:avLst>
              <a:gd name="adj" fmla="val 12183"/>
            </a:avLst>
          </a:prstGeom>
          <a:solidFill>
            <a:srgbClr val="F5F2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19"/>
          <p:cNvSpPr/>
          <p:nvPr/>
        </p:nvSpPr>
        <p:spPr>
          <a:xfrm>
            <a:off x="609600" y="2667000"/>
            <a:ext cx="1905000" cy="0"/>
          </a:xfrm>
          <a:prstGeom prst="line">
            <a:avLst/>
          </a:prstGeom>
          <a:noFill/>
          <a:ln w="38100">
            <a:solidFill>
              <a:srgbClr val="C09E30"/>
            </a:solidFill>
            <a:prstDash val="solid"/>
          </a:ln>
        </p:spPr>
      </p:sp>
      <p:pic>
        <p:nvPicPr>
          <p:cNvPr id="26" name="Image 4" descr="/home/z/my-project/investor-assets/slides/icon-hom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2350" y="2813000"/>
            <a:ext cx="279350" cy="27935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66877" y="3143101"/>
            <a:ext cx="590297" cy="230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C241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Home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842596" y="3381821"/>
            <a:ext cx="1439007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9E8A7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Decor, candles, living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2616101" y="2647950"/>
            <a:ext cx="1905000" cy="1042392"/>
          </a:xfrm>
          <a:prstGeom prst="roundRect">
            <a:avLst>
              <a:gd name="adj" fmla="val 12183"/>
            </a:avLst>
          </a:prstGeom>
          <a:solidFill>
            <a:srgbClr val="F5F2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3"/>
          <p:cNvSpPr/>
          <p:nvPr/>
        </p:nvSpPr>
        <p:spPr>
          <a:xfrm>
            <a:off x="2616101" y="2667000"/>
            <a:ext cx="1905000" cy="0"/>
          </a:xfrm>
          <a:prstGeom prst="line">
            <a:avLst/>
          </a:prstGeom>
          <a:noFill/>
          <a:ln w="38100">
            <a:solidFill>
              <a:srgbClr val="C09E30"/>
            </a:solidFill>
            <a:prstDash val="solid"/>
          </a:ln>
        </p:spPr>
      </p:sp>
      <p:pic>
        <p:nvPicPr>
          <p:cNvPr id="31" name="Image 5" descr="/home/z/my-project/investor-assets/slides/icon-briefcas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8851" y="2813000"/>
            <a:ext cx="279350" cy="27935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267164" y="3143101"/>
            <a:ext cx="602873" cy="230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C241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Office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2681032" y="3381821"/>
            <a:ext cx="1775139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9E8A7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Corporate gifts, desk items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622602" y="2647950"/>
            <a:ext cx="1905000" cy="1042392"/>
          </a:xfrm>
          <a:prstGeom prst="roundRect">
            <a:avLst>
              <a:gd name="adj" fmla="val 12183"/>
            </a:avLst>
          </a:prstGeom>
          <a:solidFill>
            <a:srgbClr val="F5F2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27"/>
          <p:cNvSpPr/>
          <p:nvPr/>
        </p:nvSpPr>
        <p:spPr>
          <a:xfrm>
            <a:off x="4622602" y="2667000"/>
            <a:ext cx="1905000" cy="0"/>
          </a:xfrm>
          <a:prstGeom prst="line">
            <a:avLst/>
          </a:prstGeom>
          <a:noFill/>
          <a:ln w="38100">
            <a:solidFill>
              <a:srgbClr val="C09E30"/>
            </a:solidFill>
            <a:prstDash val="solid"/>
          </a:ln>
        </p:spPr>
      </p:sp>
      <p:pic>
        <p:nvPicPr>
          <p:cNvPr id="36" name="Image 6" descr="/home/z/my-project/investor-assets/slides/icon-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35352" y="2813000"/>
            <a:ext cx="279350" cy="27935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4953917" y="3143101"/>
            <a:ext cx="1242370" cy="230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C241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New Arrivals</a:t>
            </a:r>
            <a:endParaRPr lang="en-US" sz="1400" dirty="0"/>
          </a:p>
        </p:txBody>
      </p:sp>
      <p:sp>
        <p:nvSpPr>
          <p:cNvPr id="38" name="Text 29"/>
          <p:cNvSpPr/>
          <p:nvPr/>
        </p:nvSpPr>
        <p:spPr>
          <a:xfrm>
            <a:off x="4934463" y="3381821"/>
            <a:ext cx="1281127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9E8A7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Latest luxury drops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6629102" y="2647950"/>
            <a:ext cx="1905000" cy="1042392"/>
          </a:xfrm>
          <a:prstGeom prst="roundRect">
            <a:avLst>
              <a:gd name="adj" fmla="val 12183"/>
            </a:avLst>
          </a:prstGeom>
          <a:solidFill>
            <a:srgbClr val="1E12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1"/>
          <p:cNvSpPr/>
          <p:nvPr/>
        </p:nvSpPr>
        <p:spPr>
          <a:xfrm>
            <a:off x="6629102" y="2667000"/>
            <a:ext cx="1905000" cy="0"/>
          </a:xfrm>
          <a:prstGeom prst="line">
            <a:avLst/>
          </a:prstGeom>
          <a:noFill/>
          <a:ln w="38100">
            <a:solidFill>
              <a:srgbClr val="C09E30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7251375" y="2813000"/>
            <a:ext cx="6603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C09E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77+</a:t>
            </a:r>
            <a:endParaRPr lang="en-US" sz="2400" dirty="0"/>
          </a:p>
        </p:txBody>
      </p:sp>
      <p:sp>
        <p:nvSpPr>
          <p:cNvPr id="42" name="Text 33"/>
          <p:cNvSpPr/>
          <p:nvPr/>
        </p:nvSpPr>
        <p:spPr>
          <a:xfrm>
            <a:off x="7127081" y="3168551"/>
            <a:ext cx="908893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Products live</a:t>
            </a:r>
            <a:endParaRPr lang="en-US" sz="1100" dirty="0"/>
          </a:p>
        </p:txBody>
      </p:sp>
      <p:sp>
        <p:nvSpPr>
          <p:cNvPr id="43" name="Text 34"/>
          <p:cNvSpPr/>
          <p:nvPr/>
        </p:nvSpPr>
        <p:spPr>
          <a:xfrm>
            <a:off x="609600" y="3791843"/>
            <a:ext cx="7924800" cy="482501"/>
          </a:xfrm>
          <a:prstGeom prst="roundRect">
            <a:avLst>
              <a:gd name="adj" fmla="val 21057"/>
            </a:avLst>
          </a:prstGeom>
          <a:solidFill>
            <a:srgbClr val="E9E2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5"/>
          <p:cNvSpPr/>
          <p:nvPr/>
        </p:nvSpPr>
        <p:spPr>
          <a:xfrm>
            <a:off x="787301" y="3918793"/>
            <a:ext cx="832633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C241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Platform Partners: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C241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CaratLane · Tanishq · BlueStone · Voylla · Myntra · Nykaa · Amazon · Flipkart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539901" cy="5143500"/>
          </a:xfrm>
          <a:prstGeom prst="rect">
            <a:avLst/>
          </a:prstGeom>
          <a:solidFill>
            <a:srgbClr val="2D1B1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1577" y="1755428"/>
            <a:ext cx="1116747" cy="178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spcAft>
                <a:spcPts val="800"/>
              </a:spcAft>
              <a:buNone/>
            </a:pPr>
            <a:r>
              <a:rPr lang="en-US" sz="1300" spc="100" kern="0" dirty="0">
                <a:solidFill>
                  <a:srgbClr val="C09E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REVENUE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546" y="2021979"/>
            <a:ext cx="2514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 Streams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66800" y="2682180"/>
            <a:ext cx="406301" cy="25301"/>
          </a:xfrm>
          <a:prstGeom prst="rect">
            <a:avLst/>
          </a:prstGeom>
          <a:solidFill>
            <a:srgbClr val="C09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03098" y="2961382"/>
            <a:ext cx="2133704" cy="46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FFFFFF">
                    <a:alpha val="55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Diversified revenue with high-margin products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97101" y="765870"/>
            <a:ext cx="5689699" cy="807690"/>
          </a:xfrm>
          <a:prstGeom prst="roundRect">
            <a:avLst>
              <a:gd name="adj" fmla="val 15724"/>
            </a:avLst>
          </a:prstGeom>
          <a:noFill/>
          <a:ln w="19050">
            <a:solidFill>
              <a:srgbClr val="CEBFB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219301" y="991939"/>
            <a:ext cx="1410385" cy="38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C09E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8-15%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429869" y="937320"/>
            <a:ext cx="3271924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3C241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Affiliate Commission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29869" y="1206550"/>
            <a:ext cx="3271924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E8A7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Revenue share from 8+ partner platforms per sale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97101" y="1700510"/>
            <a:ext cx="5689699" cy="807690"/>
          </a:xfrm>
          <a:prstGeom prst="roundRect">
            <a:avLst>
              <a:gd name="adj" fmla="val 15724"/>
            </a:avLst>
          </a:prstGeom>
          <a:noFill/>
          <a:ln w="19050">
            <a:solidFill>
              <a:srgbClr val="CEBFB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219301" y="1926580"/>
            <a:ext cx="1659166" cy="38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C09E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30-50%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07570" y="1871960"/>
            <a:ext cx="3359557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3C241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Own Product Margins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07570" y="2141190"/>
            <a:ext cx="3359557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E8A7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Curated in-house collection with premium margins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97101" y="2635151"/>
            <a:ext cx="5689699" cy="807690"/>
          </a:xfrm>
          <a:prstGeom prst="roundRect">
            <a:avLst>
              <a:gd name="adj" fmla="val 15724"/>
            </a:avLst>
          </a:prstGeom>
          <a:noFill/>
          <a:ln w="19050">
            <a:solidFill>
              <a:srgbClr val="CEBFB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219301" y="2861221"/>
            <a:ext cx="913031" cy="38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C09E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B2B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074616" y="2806601"/>
            <a:ext cx="3060129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3C241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Corporate Gifting Contracts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074616" y="3075831"/>
            <a:ext cx="3060129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E8A7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Recurring revenue from enterprise bulk orders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97101" y="3569791"/>
            <a:ext cx="5689699" cy="807690"/>
          </a:xfrm>
          <a:prstGeom prst="roundRect">
            <a:avLst>
              <a:gd name="adj" fmla="val 15724"/>
            </a:avLst>
          </a:prstGeom>
          <a:noFill/>
          <a:ln w="19050">
            <a:solidFill>
              <a:srgbClr val="CEBFB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219301" y="3795861"/>
            <a:ext cx="497771" cy="38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C09E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$9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778002" y="3741241"/>
            <a:ext cx="3510617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3C241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Premium Subscription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778002" y="4010471"/>
            <a:ext cx="3510617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E8A7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Exclusive access, early drops, free try-ons, gift concierge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2D1B1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55525"/>
            <a:ext cx="3601827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Traction and Milestones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292572"/>
            <a:ext cx="1905000" cy="1083171"/>
          </a:xfrm>
          <a:prstGeom prst="roundRect">
            <a:avLst>
              <a:gd name="adj" fmla="val 117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09600" y="1311622"/>
            <a:ext cx="1905000" cy="0"/>
          </a:xfrm>
          <a:prstGeom prst="line">
            <a:avLst/>
          </a:prstGeom>
          <a:noFill/>
          <a:ln w="38100">
            <a:solidFill>
              <a:srgbClr val="C09E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2842" y="1533823"/>
            <a:ext cx="2278517" cy="438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00"/>
              </a:lnSpc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C09E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77+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38418" y="1991023"/>
            <a:ext cx="2047363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9E8A7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Products Live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41550" y="1292572"/>
            <a:ext cx="1905000" cy="1083171"/>
          </a:xfrm>
          <a:prstGeom prst="roundRect">
            <a:avLst>
              <a:gd name="adj" fmla="val 117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641550" y="1311622"/>
            <a:ext cx="1905000" cy="0"/>
          </a:xfrm>
          <a:prstGeom prst="line">
            <a:avLst/>
          </a:prstGeom>
          <a:noFill/>
          <a:ln w="38100">
            <a:solidFill>
              <a:srgbClr val="C09E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4792" y="1533823"/>
            <a:ext cx="2278517" cy="438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00"/>
              </a:lnSpc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C09E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619902" y="1991023"/>
            <a:ext cx="1948297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9E8A7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Category Groups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73501" y="1292572"/>
            <a:ext cx="1905000" cy="1083171"/>
          </a:xfrm>
          <a:prstGeom prst="roundRect">
            <a:avLst>
              <a:gd name="adj" fmla="val 117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673501" y="1311622"/>
            <a:ext cx="1905000" cy="0"/>
          </a:xfrm>
          <a:prstGeom prst="line">
            <a:avLst/>
          </a:prstGeom>
          <a:noFill/>
          <a:ln w="38100">
            <a:solidFill>
              <a:srgbClr val="C09E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52786" y="1533823"/>
            <a:ext cx="2146429" cy="438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00"/>
              </a:lnSpc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C09E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v1.2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651852" y="1991023"/>
            <a:ext cx="1948297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9E8A7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Platform Version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05451" y="1292572"/>
            <a:ext cx="1905000" cy="1083171"/>
          </a:xfrm>
          <a:prstGeom prst="roundRect">
            <a:avLst>
              <a:gd name="adj" fmla="val 117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705451" y="1311622"/>
            <a:ext cx="1905000" cy="0"/>
          </a:xfrm>
          <a:prstGeom prst="line">
            <a:avLst/>
          </a:prstGeom>
          <a:noFill/>
          <a:ln w="38100">
            <a:solidFill>
              <a:srgbClr val="C09E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8693" y="1533823"/>
            <a:ext cx="2278517" cy="438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00"/>
              </a:lnSpc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C09E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60+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683803" y="1991023"/>
            <a:ext cx="1948297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9E8A7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API Routes Built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9600" y="2528143"/>
            <a:ext cx="7924800" cy="1932236"/>
          </a:xfrm>
          <a:prstGeom prst="roundRect">
            <a:avLst>
              <a:gd name="adj" fmla="val 65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38200" y="2705844"/>
            <a:ext cx="8214360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C241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Key Milestones Achieved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8200" y="3063776"/>
            <a:ext cx="38100" cy="228600"/>
          </a:xfrm>
          <a:prstGeom prst="roundRect">
            <a:avLst>
              <a:gd name="adj" fmla="val 66667"/>
            </a:avLst>
          </a:prstGeom>
          <a:solidFill>
            <a:srgbClr val="C09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77801" y="3038475"/>
            <a:ext cx="806079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C241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Shopify Integration: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C241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Full product sync live and operational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8200" y="3393877"/>
            <a:ext cx="38100" cy="228600"/>
          </a:xfrm>
          <a:prstGeom prst="roundRect">
            <a:avLst>
              <a:gd name="adj" fmla="val 66667"/>
            </a:avLst>
          </a:prstGeom>
          <a:solidFill>
            <a:srgbClr val="C09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977801" y="3368576"/>
            <a:ext cx="806079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C241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AI Try-On Pipeline: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C241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6-phase generative AI with VLM scoring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38200" y="3723977"/>
            <a:ext cx="38100" cy="228600"/>
          </a:xfrm>
          <a:prstGeom prst="roundRect">
            <a:avLst>
              <a:gd name="adj" fmla="val 66667"/>
            </a:avLst>
          </a:prstGeom>
          <a:solidFill>
            <a:srgbClr val="C09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977801" y="3698677"/>
            <a:ext cx="806079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C241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Portfolio v1.2: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C241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AI selfie consent flow with social proof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8200" y="4054078"/>
            <a:ext cx="38100" cy="228600"/>
          </a:xfrm>
          <a:prstGeom prst="roundRect">
            <a:avLst>
              <a:gd name="adj" fmla="val 66667"/>
            </a:avLst>
          </a:prstGeom>
          <a:solidFill>
            <a:srgbClr val="C09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977801" y="4028777"/>
            <a:ext cx="806079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C241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Production Deploy: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C241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Live at 3boxes-luxury-v12.vercel.app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3841626" cy="39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Competitive Landscape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86051" y="481310"/>
            <a:ext cx="4648349" cy="1265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76300" y="1351508"/>
            <a:ext cx="2362200" cy="2272754"/>
          </a:xfrm>
          <a:prstGeom prst="roundRect">
            <a:avLst>
              <a:gd name="adj" fmla="val 5588"/>
            </a:avLst>
          </a:prstGeom>
          <a:solidFill>
            <a:srgbClr val="C09E30">
              <a:alpha val="8000"/>
            </a:srgbClr>
          </a:solidFill>
          <a:ln w="19050">
            <a:solidFill>
              <a:srgbClr val="C09E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/home/z/my-project/investor-assets/slides/icon-crown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500" y="1573709"/>
            <a:ext cx="253901" cy="2539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53902" y="1586359"/>
            <a:ext cx="158821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09E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 Boxes Luxury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98500" y="1954560"/>
            <a:ext cx="1917799" cy="1534352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9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AI Virtual Try-On</a:t>
            </a:r>
            <a:endParaRPr lang="en-US" sz="1100" dirty="0"/>
          </a:p>
          <a:p>
            <a:pPr algn="l" marL="101600" indent="-101600">
              <a:lnSpc>
                <a:spcPts val="19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AI Gift Assistant</a:t>
            </a:r>
            <a:endParaRPr lang="en-US" sz="1100" dirty="0"/>
          </a:p>
          <a:p>
            <a:pPr algn="l" marL="101600" indent="-101600">
              <a:lnSpc>
                <a:spcPts val="19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Gift Builder (3-Box)</a:t>
            </a:r>
            <a:endParaRPr lang="en-US" sz="1100" dirty="0"/>
          </a:p>
          <a:p>
            <a:pPr algn="l" marL="101600" indent="-101600">
              <a:lnSpc>
                <a:spcPts val="19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8+ Platform Aggregation</a:t>
            </a:r>
            <a:endParaRPr lang="en-US" sz="1100" dirty="0"/>
          </a:p>
          <a:p>
            <a:pPr algn="l" marL="101600" indent="-101600">
              <a:lnSpc>
                <a:spcPts val="19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Corporate Gifting B2B</a:t>
            </a:r>
            <a:endParaRPr lang="en-US" sz="1100" dirty="0"/>
          </a:p>
          <a:p>
            <a:pPr algn="l" marL="101600" indent="-101600">
              <a:lnSpc>
                <a:spcPts val="19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Portfolio Social Proof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390900" y="1494234"/>
            <a:ext cx="2362200" cy="1987153"/>
          </a:xfrm>
          <a:prstGeom prst="roundRect">
            <a:avLst>
              <a:gd name="adj" fmla="val 6391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603575" y="1706910"/>
            <a:ext cx="240169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FFFFFF">
                    <a:alpha val="85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Nykaa / Myntra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603575" y="2062460"/>
            <a:ext cx="1936849" cy="1278627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9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Single platform only</a:t>
            </a:r>
            <a:endParaRPr lang="en-US" sz="1100" dirty="0"/>
          </a:p>
          <a:p>
            <a:pPr algn="l" marL="101600" indent="-101600">
              <a:lnSpc>
                <a:spcPts val="19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No AI try-on</a:t>
            </a:r>
            <a:endParaRPr lang="en-US" sz="1100" dirty="0"/>
          </a:p>
          <a:p>
            <a:pPr algn="l" marL="101600" indent="-101600">
              <a:lnSpc>
                <a:spcPts val="19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No gift-centric UX</a:t>
            </a:r>
            <a:endParaRPr lang="en-US" sz="1100" dirty="0"/>
          </a:p>
          <a:p>
            <a:pPr algn="l" marL="101600" indent="-101600">
              <a:lnSpc>
                <a:spcPts val="19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Beauty / fashion focus</a:t>
            </a:r>
            <a:endParaRPr lang="en-US" sz="1100" dirty="0"/>
          </a:p>
          <a:p>
            <a:pPr algn="l" marL="101600" indent="-101600">
              <a:lnSpc>
                <a:spcPts val="19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No B2B gifting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05500" y="1494234"/>
            <a:ext cx="2362200" cy="1987153"/>
          </a:xfrm>
          <a:prstGeom prst="roundRect">
            <a:avLst>
              <a:gd name="adj" fmla="val 6391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118175" y="1706910"/>
            <a:ext cx="228548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FFFFFF">
                    <a:alpha val="85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CaratLane / Tanishq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118175" y="2062460"/>
            <a:ext cx="1936849" cy="1278627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9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Jewelry only</a:t>
            </a:r>
            <a:endParaRPr lang="en-US" sz="1100" dirty="0"/>
          </a:p>
          <a:p>
            <a:pPr algn="l" marL="101600" indent="-101600">
              <a:lnSpc>
                <a:spcPts val="19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No gift recommendation</a:t>
            </a:r>
            <a:endParaRPr lang="en-US" sz="1100" dirty="0"/>
          </a:p>
          <a:p>
            <a:pPr algn="l" marL="101600" indent="-101600">
              <a:lnSpc>
                <a:spcPts val="19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No multi-category</a:t>
            </a:r>
            <a:endParaRPr lang="en-US" sz="1100" dirty="0"/>
          </a:p>
          <a:p>
            <a:pPr algn="l" marL="101600" indent="-101600">
              <a:lnSpc>
                <a:spcPts val="19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Single brand catalog</a:t>
            </a:r>
            <a:endParaRPr lang="en-US" sz="1100" dirty="0"/>
          </a:p>
          <a:p>
            <a:pPr algn="l" marL="101600" indent="-101600">
              <a:lnSpc>
                <a:spcPts val="19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No B2B gifting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09600" y="4432399"/>
            <a:ext cx="7924800" cy="482501"/>
          </a:xfrm>
          <a:prstGeom prst="roundRect">
            <a:avLst>
              <a:gd name="adj" fmla="val 15793"/>
            </a:avLst>
          </a:prstGeom>
          <a:solidFill>
            <a:srgbClr val="C09E30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633412" y="4432399"/>
            <a:ext cx="0" cy="482501"/>
          </a:xfrm>
          <a:prstGeom prst="line">
            <a:avLst/>
          </a:prstGeom>
          <a:noFill/>
          <a:ln w="47625">
            <a:solidFill>
              <a:srgbClr val="C09E3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0375" y="4559350"/>
            <a:ext cx="821796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09E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Our Moat: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9E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Only platform combining AI try-on + multi-platform aggregation + gift-centric UX in India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D1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301901" cy="5143500"/>
          </a:xfrm>
          <a:prstGeom prst="rect">
            <a:avLst/>
          </a:prstGeom>
          <a:solidFill>
            <a:srgbClr val="C09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1557189"/>
            <a:ext cx="3627120" cy="178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spc="100" kern="0" dirty="0">
                <a:solidFill>
                  <a:srgbClr val="1E12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SEEKING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5550" y="1874639"/>
            <a:ext cx="3368040" cy="72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spcBef>
                <a:spcPts val="1200"/>
              </a:spcBef>
              <a:buNone/>
            </a:pPr>
            <a:r>
              <a:rPr lang="en-US" sz="4800" b="1" dirty="0">
                <a:solidFill>
                  <a:srgbClr val="1E12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$500K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55550" y="2748260"/>
            <a:ext cx="406301" cy="38100"/>
          </a:xfrm>
          <a:prstGeom prst="rect">
            <a:avLst/>
          </a:prstGeom>
          <a:solidFill>
            <a:srgbClr val="1E120A">
              <a:alpha val="4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55550" y="2989511"/>
            <a:ext cx="321259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E12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Seed Round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55550" y="3357711"/>
            <a:ext cx="3057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1E120A">
                    <a:alpha val="70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Pre-Series A ready in 18 months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708202" y="1119188"/>
            <a:ext cx="4806142" cy="28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Use of Funds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708202" y="1662410"/>
            <a:ext cx="50750" cy="457200"/>
          </a:xfrm>
          <a:prstGeom prst="roundRect">
            <a:avLst>
              <a:gd name="adj" fmla="val 50049"/>
            </a:avLst>
          </a:prstGeom>
          <a:solidFill>
            <a:srgbClr val="C09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885902" y="1646634"/>
            <a:ext cx="2681148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40% — Product Development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85902" y="1896814"/>
            <a:ext cx="4362078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AI model training, try-on enhancement, mobile app development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08202" y="2297311"/>
            <a:ext cx="50750" cy="457200"/>
          </a:xfrm>
          <a:prstGeom prst="roundRect">
            <a:avLst>
              <a:gd name="adj" fmla="val 50049"/>
            </a:avLst>
          </a:prstGeom>
          <a:solidFill>
            <a:srgbClr val="C09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885902" y="2281535"/>
            <a:ext cx="2827085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30% — Marketing and Growth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85902" y="2531715"/>
            <a:ext cx="4268763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Performance marketing, influencer partnerships, brand building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08202" y="2932212"/>
            <a:ext cx="50750" cy="457200"/>
          </a:xfrm>
          <a:prstGeom prst="roundRect">
            <a:avLst>
              <a:gd name="adj" fmla="val 50049"/>
            </a:avLst>
          </a:prstGeom>
          <a:solidFill>
            <a:srgbClr val="C09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885902" y="2916436"/>
            <a:ext cx="2219977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20% — Team Expansion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85902" y="3166616"/>
            <a:ext cx="3487043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AI engineers, designers, B2B sales, operations hires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08202" y="3567113"/>
            <a:ext cx="50750" cy="457200"/>
          </a:xfrm>
          <a:prstGeom prst="roundRect">
            <a:avLst>
              <a:gd name="adj" fmla="val 50049"/>
            </a:avLst>
          </a:prstGeom>
          <a:solidFill>
            <a:srgbClr val="C09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885902" y="3551337"/>
            <a:ext cx="2679567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10% — Operations and Legal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85902" y="3801517"/>
            <a:ext cx="3615883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Logistics, fulfillment setup, compliance, IP protection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investor-assets/slides/closin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16450" y="809923"/>
            <a:ext cx="711101" cy="711101"/>
          </a:xfrm>
          <a:prstGeom prst="roundRect">
            <a:avLst>
              <a:gd name="adj" fmla="val 128589"/>
            </a:avLst>
          </a:prstGeom>
          <a:noFill/>
          <a:ln w="19050">
            <a:solidFill>
              <a:srgbClr val="C09E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1" descr="/home/z/my-project/investor-assets/slides/icon-crown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4150" y="987623"/>
            <a:ext cx="355550" cy="3555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74320" y="1774924"/>
            <a:ext cx="8595360" cy="536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10"/>
              </a:lnSpc>
              <a:spcAft>
                <a:spcPts val="800"/>
              </a:spcAft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 Boxes Luxury</a:t>
            </a:r>
            <a:endParaRPr lang="en-US" sz="3400" dirty="0"/>
          </a:p>
        </p:txBody>
      </p:sp>
      <p:sp>
        <p:nvSpPr>
          <p:cNvPr id="6" name="Text 2"/>
          <p:cNvSpPr/>
          <p:nvPr/>
        </p:nvSpPr>
        <p:spPr>
          <a:xfrm>
            <a:off x="4267200" y="2499866"/>
            <a:ext cx="609600" cy="38100"/>
          </a:xfrm>
          <a:prstGeom prst="rect">
            <a:avLst/>
          </a:prstGeom>
          <a:solidFill>
            <a:srgbClr val="C09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2802947" y="2664916"/>
            <a:ext cx="3537957" cy="30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spcAft>
                <a:spcPts val="2800"/>
              </a:spcAft>
              <a:buNone/>
            </a:pPr>
            <a:r>
              <a:rPr lang="en-US" sz="1600" i="1" dirty="0">
                <a:solidFill>
                  <a:srgbClr val="C09E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Curated Luxury Gifting, Powered by AI</a:t>
            </a:r>
            <a:endParaRPr lang="en-US" sz="1600" dirty="0"/>
          </a:p>
        </p:txBody>
      </p:sp>
      <p:pic>
        <p:nvPicPr>
          <p:cNvPr id="8" name="Image 2" descr="/home/z/my-project/investor-assets/slides/icon-globe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348" y="3304877"/>
            <a:ext cx="203150" cy="2031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847999" y="3323927"/>
            <a:ext cx="1431631" cy="178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3boxesluxury.com</a:t>
            </a:r>
            <a:endParaRPr lang="en-US" sz="1300" dirty="0"/>
          </a:p>
        </p:txBody>
      </p:sp>
      <p:pic>
        <p:nvPicPr>
          <p:cNvPr id="10" name="Image 3" descr="/home/z/my-project/investor-assets/slides/icon-envelope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6796" y="3304877"/>
            <a:ext cx="203150" cy="2031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721447" y="3323927"/>
            <a:ext cx="2076322" cy="178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invest@3boxesluxury.com</a:t>
            </a:r>
            <a:endParaRPr lang="en-US" sz="1300" dirty="0"/>
          </a:p>
        </p:txBody>
      </p:sp>
      <p:pic>
        <p:nvPicPr>
          <p:cNvPr id="12" name="Image 4" descr="/home/z/my-project/investor-assets/slides/icon-phone-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6593" y="3304877"/>
            <a:ext cx="203150" cy="20315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141244" y="3323927"/>
            <a:ext cx="1722102" cy="178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+91 98XXX XXXXX</a:t>
            </a:r>
            <a:endParaRPr lang="en-US" sz="1300" dirty="0"/>
          </a:p>
        </p:txBody>
      </p:sp>
      <p:sp>
        <p:nvSpPr>
          <p:cNvPr id="14" name="Text 7"/>
          <p:cNvSpPr/>
          <p:nvPr/>
        </p:nvSpPr>
        <p:spPr>
          <a:xfrm>
            <a:off x="2340620" y="3863578"/>
            <a:ext cx="4462611" cy="469850"/>
          </a:xfrm>
          <a:prstGeom prst="roundRect">
            <a:avLst>
              <a:gd name="adj" fmla="val 16218"/>
            </a:avLst>
          </a:prstGeom>
          <a:noFill/>
          <a:ln w="19050">
            <a:solidFill>
              <a:srgbClr val="C09E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8"/>
          <p:cNvSpPr/>
          <p:nvPr/>
        </p:nvSpPr>
        <p:spPr>
          <a:xfrm>
            <a:off x="2765971" y="4009579"/>
            <a:ext cx="4514887" cy="192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spc="100" kern="0" dirty="0">
                <a:solidFill>
                  <a:srgbClr val="C09E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LET'S BUILD THE FUTURE OF GIFTING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2026-05-29T07:44:30Z</dcterms:created>
  <dcterms:modified xsi:type="dcterms:W3CDTF">2026-05-29T07:44:30Z</dcterms:modified>
</cp:coreProperties>
</file>